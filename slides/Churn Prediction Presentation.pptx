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 name is [name], and I’ll present my churn prediction project. (Then go straight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subscription company wants to know which customers are about to leave, so it can act before they go. My task was to predict, for each customer, whether they will cancel within the next 30 days. One row is one customer on one date: the snapshot, 1 August 2026. The target is yes or no, so this is binary classification. The customer-success team can’t call everyone, so what they really need is a ranked list: who should we contact first? That idea, ranking under limited capacity, shaped the rest of my work.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about 1,800 customers and 20 columns. Only 18% churn, so the classes are imbalanced. Accuracy is misleading: a model that always says ‘stays’ gets 82% and finds nobody. Before modelling I found three problems: 18 exact duplicates, removed before splitting so no customer ends up in both training and test; 79 customers with zero logins but an 18-minute average session, which is impossible, so I set session time to missing for them; and NPS with decimals, which suggests an average, so I interpret it with care.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finding was data leakage: information the model would not have on the day it predicts. My rule: only use what is known on the snapshot date. days_until_churn only has a value for customers who already left, so it gives away the answer; I dropped it. retention_offer_sent was harder to see: 65% churn with an offer vs 8% without. Offers are sent after the company already sees a customer leaving, and it is the decision my model should support. Adding this one column raised ROC-AUC from 0.75 to 0.86, but that score would not hold in production. So I deliberately chose the lower, honest score. (~1.5 min, slow down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split the data 80/20, stratified so both parts have the same churn rate. The test set was locked away and used only once, at the very end. All preprocessing (filling in missing values, scaling, encoding categories) sits inside a scikit-learn pipeline with the model, so it only learns from training data, which prevents leakage. I compared models with 5-fold cross-validation, the same folds for every model. And I built two baselines: always ‘stays’, and a simple business rule. A model is only worth it if it beats what a manager could do by hand.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Logistic Regression, Random Forest and Gradient Boosting. All three clearly beat the business rule: about 0.75 against 0.62. The interesting part is which model won: the simplest one. Point to the train column: the tree models score 0.99 on training data but only 0.75 on new data. That’s overfitting: they memorise the training customers. Logistic Regression’s gap is only 0.04. Tuning the trees with a grid search didn’t change the ranking; Gradient Boosting even chose its least flexible settings. Finally, I removed age: performance didn’t change, and using age to decide who gets offers raises fairness concerns.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test set the final model reached ROC-AUC 0.76, the same as in cross-validation, so the estimate was reliable. I set the threshold at 0.57, leaning towards recall, because missing a customer who leaves usually costs more than an unnecessary call. The model then finds 55% of churners. In business terms: if the team calls the riskiest 20%, they reach churners 2.1 times more often than at random. Then the mistakes: the customers the model misses look loyal, logging in 14 days a month, while the churners it finds log in about 8. These silent churners leave for reasons not in the data, so the fix is new data, like when their contract is up for renewal.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built a neural network in PyTorch: two hidden layers, dropout and early stopping. On the same folds it scored 0.749 against 0.752 for Logistic Regression; it won two folds and lost three, so no real difference. The training curves show it starting to overfit after about 15 epochs. With about 1,400 rows of table data, Deep Learning’s strengths aren’t used, and with equal performance I choose the simpler model. It would make sense with much more data, with sequences like daily logins, or with support-ticket text. Transfer learning means reusing a model trained on huge amounts of data like images or text. Our columns are specific to this company, so there’s nothing general to transfer; it would become relevant with support-ticket text and a pretrained Swedish language model.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recommendation is Logistic Regression, used as a monthly risk ranking for the retention team. It’s as good as or better than the complex models, it overfits least, it’s stable, and the team can see why a customer is flagged. The main limitations: only one snapshot in time, a fairly small dataset, and it’s weaker for customers on long contracts. I saved the full pipeline with its input schema and library versions, plus a function that validates new data. In production I’d monitor data drift and recall, keeping in mind that the true answers arrive 30 days late, and retrain when things change. Next steps: test on a later snapshot, add a months-until-renewal feature, and run an A/B test to see which customers an offer can actually save.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05487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A65A"/>
                </a:solidFill>
                <a:latin typeface="IBM Plex Sans" pitchFamily="34" charset="0"/>
                <a:ea typeface="IBM Plex Sans" pitchFamily="34" charset="-122"/>
                <a:cs typeface="IBM Plex Sans" pitchFamily="34" charset="-120"/>
              </a:rPr>
              <a:t>MACHINE LEARNING AND DEEP LEARNING · EXAM CASE</a:t>
            </a:r>
            <a:endParaRPr lang="en-US" sz="1400" dirty="0"/>
          </a:p>
        </p:txBody>
      </p:sp>
      <p:sp>
        <p:nvSpPr>
          <p:cNvPr id="3" name="Text 1"/>
          <p:cNvSpPr/>
          <p:nvPr>
            <p:ph type="title"/>
          </p:nvPr>
        </p:nvSpPr>
        <p:spPr>
          <a:xfrm>
            <a:off x="812800" y="2557760"/>
            <a:ext cx="915670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6F2"/>
                </a:solidFill>
                <a:latin typeface="Source Serif 4" pitchFamily="18" charset="0"/>
                <a:ea typeface="Source Serif 4" pitchFamily="18" charset="-122"/>
                <a:cs typeface="Source Serif 4" pitchFamily="18" charset="-120"/>
              </a:rPr>
              <a:t>Who will leave in the next 30 days?</a:t>
            </a:r>
            <a:endParaRPr lang="en-US" sz="6000" dirty="0"/>
          </a:p>
        </p:txBody>
      </p:sp>
      <p:sp>
        <p:nvSpPr>
          <p:cNvPr id="4" name="Text 2"/>
          <p:cNvSpPr/>
          <p:nvPr/>
        </p:nvSpPr>
        <p:spPr>
          <a:xfrm>
            <a:off x="812800" y="4411960"/>
            <a:ext cx="91567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9D3E3"/>
                </a:solidFill>
                <a:latin typeface="IBM Plex Sans" pitchFamily="34" charset="0"/>
                <a:ea typeface="IBM Plex Sans" pitchFamily="34" charset="-122"/>
                <a:cs typeface="IBM Plex Sans" pitchFamily="34" charset="-120"/>
              </a:rPr>
              <a:t>Churn prediction for a subscription business</a:t>
            </a:r>
            <a:endParaRPr lang="en-US" sz="2200" dirty="0"/>
          </a:p>
        </p:txBody>
      </p:sp>
      <p:sp>
        <p:nvSpPr>
          <p:cNvPr id="5" name="Text 3"/>
          <p:cNvSpPr/>
          <p:nvPr/>
        </p:nvSpPr>
        <p:spPr>
          <a:xfrm>
            <a:off x="812800" y="5999510"/>
            <a:ext cx="784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Mine Demir · 22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IBM Plex Sans" pitchFamily="34" charset="0"/>
                <a:ea typeface="IBM Plex Sans" pitchFamily="34" charset="-122"/>
                <a:cs typeface="IBM Plex Sans" pitchFamily="34" charset="-120"/>
              </a:rPr>
              <a:t>1 · THE PROBLEM</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The goal: a ranked list of customers at risk</a:t>
            </a:r>
            <a:endParaRPr lang="en-US" sz="3600" dirty="0"/>
          </a:p>
        </p:txBody>
      </p:sp>
      <p:sp>
        <p:nvSpPr>
          <p:cNvPr id="4" name="Shape 2"/>
          <p:cNvSpPr/>
          <p:nvPr/>
        </p:nvSpPr>
        <p:spPr>
          <a:xfrm>
            <a:off x="815975" y="2040186"/>
            <a:ext cx="3380284" cy="2497882"/>
          </a:xfrm>
          <a:prstGeom prst="roundRect">
            <a:avLst>
              <a:gd name="adj" fmla="val 3940"/>
            </a:avLst>
          </a:prstGeom>
          <a:solidFill>
            <a:srgbClr val="FFFFFD"/>
          </a:solidFill>
          <a:ln w="6350">
            <a:solidFill>
              <a:srgbClr val="E1DED4"/>
            </a:solidFill>
            <a:prstDash val="solid"/>
          </a:ln>
        </p:spPr>
      </p:sp>
      <p:sp>
        <p:nvSpPr>
          <p:cNvPr id="5" name="Text 3"/>
          <p:cNvSpPr/>
          <p:nvPr/>
        </p:nvSpPr>
        <p:spPr>
          <a:xfrm>
            <a:off x="1123950" y="2348161"/>
            <a:ext cx="284726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41A"/>
                </a:solidFill>
                <a:latin typeface="IBM Plex Sans" pitchFamily="34" charset="0"/>
                <a:ea typeface="IBM Plex Sans" pitchFamily="34" charset="-122"/>
                <a:cs typeface="IBM Plex Sans" pitchFamily="34" charset="-120"/>
              </a:rPr>
              <a:t>PREDICT</a:t>
            </a:r>
            <a:endParaRPr lang="en-US" sz="1200" dirty="0"/>
          </a:p>
        </p:txBody>
      </p:sp>
      <p:sp>
        <p:nvSpPr>
          <p:cNvPr id="6" name="Text 4"/>
          <p:cNvSpPr/>
          <p:nvPr/>
        </p:nvSpPr>
        <p:spPr>
          <a:xfrm>
            <a:off x="1123950" y="2663081"/>
            <a:ext cx="2847264" cy="989211"/>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ource Serif 4" pitchFamily="18" charset="0"/>
                <a:ea typeface="Source Serif 4" pitchFamily="18" charset="-122"/>
                <a:cs typeface="Source Serif 4" pitchFamily="18" charset="-120"/>
              </a:rPr>
              <a:t>Will this customer cancel within 30 days?</a:t>
            </a:r>
            <a:endParaRPr lang="en-US" sz="2200" dirty="0"/>
          </a:p>
        </p:txBody>
      </p:sp>
      <p:sp>
        <p:nvSpPr>
          <p:cNvPr id="7" name="Text 5"/>
          <p:cNvSpPr/>
          <p:nvPr/>
        </p:nvSpPr>
        <p:spPr>
          <a:xfrm>
            <a:off x="1123950" y="3728492"/>
            <a:ext cx="3069134"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Yes or no: binary classification</a:t>
            </a:r>
            <a:endParaRPr lang="en-US" sz="1600" dirty="0"/>
          </a:p>
        </p:txBody>
      </p:sp>
      <p:sp>
        <p:nvSpPr>
          <p:cNvPr id="8" name="Shape 6"/>
          <p:cNvSpPr/>
          <p:nvPr/>
        </p:nvSpPr>
        <p:spPr>
          <a:xfrm>
            <a:off x="4405809" y="2040186"/>
            <a:ext cx="3380333" cy="2497882"/>
          </a:xfrm>
          <a:prstGeom prst="roundRect">
            <a:avLst>
              <a:gd name="adj" fmla="val 3940"/>
            </a:avLst>
          </a:prstGeom>
          <a:solidFill>
            <a:srgbClr val="FFFFFD"/>
          </a:solidFill>
          <a:ln w="6350">
            <a:solidFill>
              <a:srgbClr val="E1DED4"/>
            </a:solidFill>
            <a:prstDash val="solid"/>
          </a:ln>
        </p:spPr>
      </p:sp>
      <p:sp>
        <p:nvSpPr>
          <p:cNvPr id="9" name="Text 7"/>
          <p:cNvSpPr/>
          <p:nvPr/>
        </p:nvSpPr>
        <p:spPr>
          <a:xfrm>
            <a:off x="4713784" y="2348161"/>
            <a:ext cx="284731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41A"/>
                </a:solidFill>
                <a:latin typeface="IBM Plex Sans" pitchFamily="34" charset="0"/>
                <a:ea typeface="IBM Plex Sans" pitchFamily="34" charset="-122"/>
                <a:cs typeface="IBM Plex Sans" pitchFamily="34" charset="-120"/>
              </a:rPr>
              <a:t>ONE ROW</a:t>
            </a:r>
            <a:endParaRPr lang="en-US" sz="1200" dirty="0"/>
          </a:p>
        </p:txBody>
      </p:sp>
      <p:sp>
        <p:nvSpPr>
          <p:cNvPr id="10" name="Text 8"/>
          <p:cNvSpPr/>
          <p:nvPr/>
        </p:nvSpPr>
        <p:spPr>
          <a:xfrm>
            <a:off x="4713784" y="2663081"/>
            <a:ext cx="2847315" cy="667941"/>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ource Serif 4" pitchFamily="18" charset="0"/>
                <a:ea typeface="Source Serif 4" pitchFamily="18" charset="-122"/>
                <a:cs typeface="Source Serif 4" pitchFamily="18" charset="-120"/>
              </a:rPr>
              <a:t>One customer on one date</a:t>
            </a:r>
            <a:endParaRPr lang="en-US" sz="2200" dirty="0"/>
          </a:p>
        </p:txBody>
      </p:sp>
      <p:sp>
        <p:nvSpPr>
          <p:cNvPr id="11" name="Text 9"/>
          <p:cNvSpPr/>
          <p:nvPr/>
        </p:nvSpPr>
        <p:spPr>
          <a:xfrm>
            <a:off x="4713784" y="3407221"/>
            <a:ext cx="2847315"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Snapshot 2026-08-01; only data known that day may be used</a:t>
            </a:r>
            <a:endParaRPr lang="en-US" sz="1600" dirty="0"/>
          </a:p>
        </p:txBody>
      </p:sp>
      <p:sp>
        <p:nvSpPr>
          <p:cNvPr id="12" name="Shape 10"/>
          <p:cNvSpPr/>
          <p:nvPr/>
        </p:nvSpPr>
        <p:spPr>
          <a:xfrm>
            <a:off x="7995692" y="2040186"/>
            <a:ext cx="3380333" cy="2497882"/>
          </a:xfrm>
          <a:prstGeom prst="roundRect">
            <a:avLst>
              <a:gd name="adj" fmla="val 3940"/>
            </a:avLst>
          </a:prstGeom>
          <a:solidFill>
            <a:srgbClr val="FFFFFD"/>
          </a:solidFill>
          <a:ln w="6350">
            <a:solidFill>
              <a:srgbClr val="E1DED4"/>
            </a:solidFill>
            <a:prstDash val="solid"/>
          </a:ln>
        </p:spPr>
      </p:sp>
      <p:sp>
        <p:nvSpPr>
          <p:cNvPr id="13" name="Text 11"/>
          <p:cNvSpPr/>
          <p:nvPr/>
        </p:nvSpPr>
        <p:spPr>
          <a:xfrm>
            <a:off x="8303667" y="2348161"/>
            <a:ext cx="284731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41A"/>
                </a:solidFill>
                <a:latin typeface="IBM Plex Sans" pitchFamily="34" charset="0"/>
                <a:ea typeface="IBM Plex Sans" pitchFamily="34" charset="-122"/>
                <a:cs typeface="IBM Plex Sans" pitchFamily="34" charset="-120"/>
              </a:rPr>
              <a:t>DECISION</a:t>
            </a:r>
            <a:endParaRPr lang="en-US" sz="1200" dirty="0"/>
          </a:p>
        </p:txBody>
      </p:sp>
      <p:sp>
        <p:nvSpPr>
          <p:cNvPr id="14" name="Text 12"/>
          <p:cNvSpPr/>
          <p:nvPr/>
        </p:nvSpPr>
        <p:spPr>
          <a:xfrm>
            <a:off x="8303667" y="2663081"/>
            <a:ext cx="2847315" cy="667941"/>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ource Serif 4" pitchFamily="18" charset="0"/>
                <a:ea typeface="Source Serif 4" pitchFamily="18" charset="-122"/>
                <a:cs typeface="Source Serif 4" pitchFamily="18" charset="-120"/>
              </a:rPr>
              <a:t>Whom to contact first?</a:t>
            </a:r>
            <a:endParaRPr lang="en-US" sz="2200" dirty="0"/>
          </a:p>
        </p:txBody>
      </p:sp>
      <p:sp>
        <p:nvSpPr>
          <p:cNvPr id="15" name="Text 13"/>
          <p:cNvSpPr/>
          <p:nvPr/>
        </p:nvSpPr>
        <p:spPr>
          <a:xfrm>
            <a:off x="8303667" y="3407221"/>
            <a:ext cx="2847315"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The retention team has limited capacity, so ranking matters most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IBM Plex Sans" pitchFamily="34" charset="0"/>
                <a:ea typeface="IBM Plex Sans" pitchFamily="34" charset="-122"/>
                <a:cs typeface="IBM Plex Sans" pitchFamily="34" charset="-120"/>
              </a:rPr>
              <a:t>2 · THE DATA</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1,800 customers, and only 18% churn</a:t>
            </a:r>
            <a:endParaRPr lang="en-US" sz="3600" dirty="0"/>
          </a:p>
        </p:txBody>
      </p:sp>
      <p:sp>
        <p:nvSpPr>
          <p:cNvPr id="4" name="Shape 2"/>
          <p:cNvSpPr/>
          <p:nvPr/>
        </p:nvSpPr>
        <p:spPr>
          <a:xfrm>
            <a:off x="812800" y="1986211"/>
            <a:ext cx="3556000" cy="2651671"/>
          </a:xfrm>
          <a:prstGeom prst="roundRect">
            <a:avLst>
              <a:gd name="adj" fmla="val 3832"/>
            </a:avLst>
          </a:prstGeom>
          <a:solidFill>
            <a:srgbClr val="14213D"/>
          </a:solidFill>
          <a:ln/>
        </p:spPr>
      </p:sp>
      <p:sp>
        <p:nvSpPr>
          <p:cNvPr id="5" name="Text 3"/>
          <p:cNvSpPr/>
          <p:nvPr/>
        </p:nvSpPr>
        <p:spPr>
          <a:xfrm>
            <a:off x="1168400" y="2341811"/>
            <a:ext cx="2930144"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2A65A"/>
                </a:solidFill>
                <a:latin typeface="Source Serif 4" pitchFamily="18" charset="0"/>
                <a:ea typeface="Source Serif 4" pitchFamily="18" charset="-122"/>
                <a:cs typeface="Source Serif 4" pitchFamily="18" charset="-120"/>
              </a:rPr>
              <a:t>18%</a:t>
            </a:r>
            <a:endParaRPr lang="en-US" sz="8000" dirty="0"/>
          </a:p>
        </p:txBody>
      </p:sp>
      <p:sp>
        <p:nvSpPr>
          <p:cNvPr id="6" name="Text 4"/>
          <p:cNvSpPr/>
          <p:nvPr/>
        </p:nvSpPr>
        <p:spPr>
          <a:xfrm>
            <a:off x="1168400" y="3459411"/>
            <a:ext cx="2930144"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7F6F2"/>
                </a:solidFill>
                <a:latin typeface="IBM Plex Sans" pitchFamily="34" charset="0"/>
                <a:ea typeface="IBM Plex Sans" pitchFamily="34" charset="-122"/>
                <a:cs typeface="IBM Plex Sans" pitchFamily="34" charset="-120"/>
              </a:rPr>
              <a:t>churn: always guessing “stays” scores 82% accuracy and finds no one</a:t>
            </a:r>
            <a:endParaRPr lang="en-US" sz="1600" dirty="0"/>
          </a:p>
        </p:txBody>
      </p:sp>
      <p:sp>
        <p:nvSpPr>
          <p:cNvPr id="7" name="Text 5"/>
          <p:cNvSpPr/>
          <p:nvPr/>
        </p:nvSpPr>
        <p:spPr>
          <a:xfrm>
            <a:off x="4775200" y="1986211"/>
            <a:ext cx="68021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IBM Plex Sans" pitchFamily="34" charset="0"/>
                <a:ea typeface="IBM Plex Sans" pitchFamily="34" charset="-122"/>
                <a:cs typeface="IBM Plex Sans" pitchFamily="34" charset="-120"/>
              </a:rPr>
              <a:t>PROBLEMS FOUND AND FIXED</a:t>
            </a:r>
            <a:endParaRPr lang="en-US" sz="1200" dirty="0"/>
          </a:p>
        </p:txBody>
      </p:sp>
      <p:sp>
        <p:nvSpPr>
          <p:cNvPr id="8" name="Shape 6"/>
          <p:cNvSpPr/>
          <p:nvPr/>
        </p:nvSpPr>
        <p:spPr>
          <a:xfrm>
            <a:off x="4775200" y="2358281"/>
            <a:ext cx="6604000" cy="0"/>
          </a:xfrm>
          <a:prstGeom prst="line">
            <a:avLst/>
          </a:prstGeom>
          <a:noFill/>
          <a:ln w="12700">
            <a:solidFill>
              <a:srgbClr val="14213D"/>
            </a:solidFill>
            <a:prstDash val="solid"/>
          </a:ln>
        </p:spPr>
      </p:sp>
      <p:sp>
        <p:nvSpPr>
          <p:cNvPr id="9" name="Text 7"/>
          <p:cNvSpPr/>
          <p:nvPr/>
        </p:nvSpPr>
        <p:spPr>
          <a:xfrm>
            <a:off x="4775200" y="2517031"/>
            <a:ext cx="680212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18 exact duplicates</a:t>
            </a:r>
            <a:endParaRPr lang="en-US" sz="1800" dirty="0"/>
          </a:p>
        </p:txBody>
      </p:sp>
      <p:sp>
        <p:nvSpPr>
          <p:cNvPr id="10" name="Text 8"/>
          <p:cNvSpPr/>
          <p:nvPr/>
        </p:nvSpPr>
        <p:spPr>
          <a:xfrm>
            <a:off x="4775200" y="2842121"/>
            <a:ext cx="68021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Removed before the split, so no customer is in both train and test</a:t>
            </a:r>
            <a:endParaRPr lang="en-US" sz="1400" dirty="0"/>
          </a:p>
        </p:txBody>
      </p:sp>
      <p:sp>
        <p:nvSpPr>
          <p:cNvPr id="11" name="Shape 9"/>
          <p:cNvSpPr/>
          <p:nvPr/>
        </p:nvSpPr>
        <p:spPr>
          <a:xfrm>
            <a:off x="4775200" y="3237706"/>
            <a:ext cx="6604000" cy="0"/>
          </a:xfrm>
          <a:prstGeom prst="line">
            <a:avLst/>
          </a:prstGeom>
          <a:noFill/>
          <a:ln w="6350">
            <a:solidFill>
              <a:srgbClr val="C9C5B8"/>
            </a:solidFill>
            <a:prstDash val="solid"/>
          </a:ln>
        </p:spPr>
      </p:sp>
      <p:sp>
        <p:nvSpPr>
          <p:cNvPr id="12" name="Text 10"/>
          <p:cNvSpPr/>
          <p:nvPr/>
        </p:nvSpPr>
        <p:spPr>
          <a:xfrm>
            <a:off x="4775200" y="3393281"/>
            <a:ext cx="680212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79 impossible rows</a:t>
            </a:r>
            <a:endParaRPr lang="en-US" sz="1800" dirty="0"/>
          </a:p>
        </p:txBody>
      </p:sp>
      <p:sp>
        <p:nvSpPr>
          <p:cNvPr id="13" name="Text 11"/>
          <p:cNvSpPr/>
          <p:nvPr/>
        </p:nvSpPr>
        <p:spPr>
          <a:xfrm>
            <a:off x="4775200" y="3718371"/>
            <a:ext cx="68021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0 login days but 18-minute sessions: session time set to missing</a:t>
            </a:r>
            <a:endParaRPr lang="en-US" sz="1400" dirty="0"/>
          </a:p>
        </p:txBody>
      </p:sp>
      <p:sp>
        <p:nvSpPr>
          <p:cNvPr id="14" name="Shape 12"/>
          <p:cNvSpPr/>
          <p:nvPr/>
        </p:nvSpPr>
        <p:spPr>
          <a:xfrm>
            <a:off x="4775200" y="4113957"/>
            <a:ext cx="6604000" cy="0"/>
          </a:xfrm>
          <a:prstGeom prst="line">
            <a:avLst/>
          </a:prstGeom>
          <a:noFill/>
          <a:ln w="6350">
            <a:solidFill>
              <a:srgbClr val="C9C5B8"/>
            </a:solidFill>
            <a:prstDash val="solid"/>
          </a:ln>
        </p:spPr>
      </p:sp>
      <p:sp>
        <p:nvSpPr>
          <p:cNvPr id="15" name="Text 13"/>
          <p:cNvSpPr/>
          <p:nvPr/>
        </p:nvSpPr>
        <p:spPr>
          <a:xfrm>
            <a:off x="4775200" y="4269532"/>
            <a:ext cx="680212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NPS with decimals</a:t>
            </a:r>
            <a:endParaRPr lang="en-US" sz="1800" dirty="0"/>
          </a:p>
        </p:txBody>
      </p:sp>
      <p:sp>
        <p:nvSpPr>
          <p:cNvPr id="16" name="Text 14"/>
          <p:cNvSpPr/>
          <p:nvPr/>
        </p:nvSpPr>
        <p:spPr>
          <a:xfrm>
            <a:off x="4775200" y="4594622"/>
            <a:ext cx="68021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Probably an average, so interpreted with care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IBM Plex Sans" pitchFamily="34" charset="0"/>
                <a:ea typeface="IBM Plex Sans" pitchFamily="34" charset="-122"/>
                <a:cs typeface="IBM Plex Sans" pitchFamily="34" charset="-120"/>
              </a:rPr>
              <a:t>3 · LEAKAGE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2"/>
                </a:solidFill>
                <a:latin typeface="Source Serif 4" pitchFamily="18" charset="0"/>
                <a:ea typeface="Source Serif 4" pitchFamily="18" charset="-122"/>
                <a:cs typeface="Source Serif 4" pitchFamily="18" charset="-120"/>
              </a:rPr>
              <a:t>A higher score can be a fake score</a:t>
            </a:r>
            <a:endParaRPr lang="en-US" sz="3600" dirty="0"/>
          </a:p>
        </p:txBody>
      </p:sp>
      <p:sp>
        <p:nvSpPr>
          <p:cNvPr id="4" name="Shape 2"/>
          <p:cNvSpPr/>
          <p:nvPr/>
        </p:nvSpPr>
        <p:spPr>
          <a:xfrm>
            <a:off x="812800" y="1992561"/>
            <a:ext cx="6096000" cy="0"/>
          </a:xfrm>
          <a:prstGeom prst="line">
            <a:avLst/>
          </a:prstGeom>
          <a:noFill/>
          <a:ln w="12700">
            <a:solidFill>
              <a:srgbClr val="F2A65A"/>
            </a:solidFill>
            <a:prstDash val="solid"/>
          </a:ln>
        </p:spPr>
      </p:sp>
      <p:sp>
        <p:nvSpPr>
          <p:cNvPr id="5" name="Text 3"/>
          <p:cNvSpPr/>
          <p:nvPr/>
        </p:nvSpPr>
        <p:spPr>
          <a:xfrm>
            <a:off x="812800" y="2151311"/>
            <a:ext cx="627888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IBM Plex Sans" pitchFamily="34" charset="0"/>
                <a:ea typeface="IBM Plex Sans" pitchFamily="34" charset="-122"/>
                <a:cs typeface="IBM Plex Sans" pitchFamily="34" charset="-120"/>
              </a:rPr>
              <a:t>days_until_churn</a:t>
            </a:r>
            <a:endParaRPr lang="en-US" sz="1800" dirty="0"/>
          </a:p>
        </p:txBody>
      </p:sp>
      <p:sp>
        <p:nvSpPr>
          <p:cNvPr id="6" name="Text 4"/>
          <p:cNvSpPr/>
          <p:nvPr/>
        </p:nvSpPr>
        <p:spPr>
          <a:xfrm>
            <a:off x="812800" y="2476401"/>
            <a:ext cx="627888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D3E3"/>
                </a:solidFill>
                <a:latin typeface="IBM Plex Sans" pitchFamily="34" charset="0"/>
                <a:ea typeface="IBM Plex Sans" pitchFamily="34" charset="-122"/>
                <a:cs typeface="IBM Plex Sans" pitchFamily="34" charset="-120"/>
              </a:rPr>
              <a:t>Only filled in for customers who already left. It gives away the answer, so it was dropped.</a:t>
            </a:r>
            <a:endParaRPr lang="en-US" sz="1400" dirty="0"/>
          </a:p>
        </p:txBody>
      </p:sp>
      <p:sp>
        <p:nvSpPr>
          <p:cNvPr id="7" name="Shape 5"/>
          <p:cNvSpPr/>
          <p:nvPr/>
        </p:nvSpPr>
        <p:spPr>
          <a:xfrm>
            <a:off x="812800" y="3165971"/>
            <a:ext cx="6096000" cy="0"/>
          </a:xfrm>
          <a:prstGeom prst="line">
            <a:avLst/>
          </a:prstGeom>
          <a:noFill/>
          <a:ln w="12700">
            <a:solidFill>
              <a:srgbClr val="F2A65A"/>
            </a:solidFill>
            <a:prstDash val="solid"/>
          </a:ln>
        </p:spPr>
      </p:sp>
      <p:sp>
        <p:nvSpPr>
          <p:cNvPr id="8" name="Text 6"/>
          <p:cNvSpPr/>
          <p:nvPr/>
        </p:nvSpPr>
        <p:spPr>
          <a:xfrm>
            <a:off x="812800" y="3324721"/>
            <a:ext cx="627888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IBM Plex Sans" pitchFamily="34" charset="0"/>
                <a:ea typeface="IBM Plex Sans" pitchFamily="34" charset="-122"/>
                <a:cs typeface="IBM Plex Sans" pitchFamily="34" charset="-120"/>
              </a:rPr>
              <a:t>retention_offer_sent</a:t>
            </a:r>
            <a:endParaRPr lang="en-US" sz="1800" dirty="0"/>
          </a:p>
        </p:txBody>
      </p:sp>
      <p:sp>
        <p:nvSpPr>
          <p:cNvPr id="9" name="Text 7"/>
          <p:cNvSpPr/>
          <p:nvPr/>
        </p:nvSpPr>
        <p:spPr>
          <a:xfrm>
            <a:off x="812800" y="3649811"/>
            <a:ext cx="627888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D3E3"/>
                </a:solidFill>
                <a:latin typeface="IBM Plex Sans" pitchFamily="34" charset="0"/>
                <a:ea typeface="IBM Plex Sans" pitchFamily="34" charset="-122"/>
                <a:cs typeface="IBM Plex Sans" pitchFamily="34" charset="-120"/>
              </a:rPr>
              <a:t>65% churn with an offer vs 8% without. Offers are a reaction to known churn, and they are the decision the model should support. Excluded.</a:t>
            </a:r>
            <a:endParaRPr lang="en-US" sz="1400" dirty="0"/>
          </a:p>
        </p:txBody>
      </p:sp>
      <p:sp>
        <p:nvSpPr>
          <p:cNvPr id="10" name="Shape 8"/>
          <p:cNvSpPr/>
          <p:nvPr/>
        </p:nvSpPr>
        <p:spPr>
          <a:xfrm>
            <a:off x="7315200" y="1986211"/>
            <a:ext cx="4064000" cy="2739330"/>
          </a:xfrm>
          <a:prstGeom prst="roundRect">
            <a:avLst>
              <a:gd name="adj" fmla="val 3709"/>
            </a:avLst>
          </a:prstGeom>
          <a:solidFill>
            <a:srgbClr val="1F2F52"/>
          </a:solidFill>
          <a:ln/>
        </p:spPr>
      </p:sp>
      <p:sp>
        <p:nvSpPr>
          <p:cNvPr id="11" name="Text 9"/>
          <p:cNvSpPr/>
          <p:nvPr/>
        </p:nvSpPr>
        <p:spPr>
          <a:xfrm>
            <a:off x="7620000" y="2291011"/>
            <a:ext cx="355803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D3E3"/>
                </a:solidFill>
                <a:latin typeface="IBM Plex Sans" pitchFamily="34" charset="0"/>
                <a:ea typeface="IBM Plex Sans" pitchFamily="34" charset="-122"/>
                <a:cs typeface="IBM Plex Sans" pitchFamily="34" charset="-120"/>
              </a:rPr>
              <a:t>ROC-AUC, LOGISTIC REGRESSION</a:t>
            </a:r>
            <a:endParaRPr lang="en-US" sz="1200" dirty="0"/>
          </a:p>
        </p:txBody>
      </p:sp>
      <p:sp>
        <p:nvSpPr>
          <p:cNvPr id="12" name="Text 10"/>
          <p:cNvSpPr/>
          <p:nvPr/>
        </p:nvSpPr>
        <p:spPr>
          <a:xfrm>
            <a:off x="7620000" y="2656731"/>
            <a:ext cx="134059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8C9AB3"/>
                </a:solidFill>
                <a:latin typeface="Source Serif 4" pitchFamily="18" charset="0"/>
                <a:ea typeface="Source Serif 4" pitchFamily="18" charset="-122"/>
                <a:cs typeface="Source Serif 4" pitchFamily="18" charset="-120"/>
              </a:rPr>
              <a:t>0.86</a:t>
            </a:r>
            <a:endParaRPr lang="en-US" sz="4800" dirty="0"/>
          </a:p>
        </p:txBody>
      </p:sp>
      <p:sp>
        <p:nvSpPr>
          <p:cNvPr id="13" name="Text 11"/>
          <p:cNvSpPr/>
          <p:nvPr/>
        </p:nvSpPr>
        <p:spPr>
          <a:xfrm>
            <a:off x="8960594" y="2983756"/>
            <a:ext cx="17999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with the offer: fake</a:t>
            </a:r>
            <a:endParaRPr lang="en-US" sz="1400" dirty="0"/>
          </a:p>
        </p:txBody>
      </p:sp>
      <p:sp>
        <p:nvSpPr>
          <p:cNvPr id="14" name="Text 12"/>
          <p:cNvSpPr/>
          <p:nvPr/>
        </p:nvSpPr>
        <p:spPr>
          <a:xfrm>
            <a:off x="7620000" y="3418731"/>
            <a:ext cx="134059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2A65A"/>
                </a:solidFill>
                <a:latin typeface="Source Serif 4" pitchFamily="18" charset="0"/>
                <a:ea typeface="Source Serif 4" pitchFamily="18" charset="-122"/>
                <a:cs typeface="Source Serif 4" pitchFamily="18" charset="-120"/>
              </a:rPr>
              <a:t>0.75</a:t>
            </a:r>
            <a:endParaRPr lang="en-US" sz="4800" dirty="0"/>
          </a:p>
        </p:txBody>
      </p:sp>
      <p:sp>
        <p:nvSpPr>
          <p:cNvPr id="15" name="Text 13"/>
          <p:cNvSpPr/>
          <p:nvPr/>
        </p:nvSpPr>
        <p:spPr>
          <a:xfrm>
            <a:off x="8960594" y="3745756"/>
            <a:ext cx="14978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without: honest</a:t>
            </a:r>
            <a:endParaRPr lang="en-US" sz="1400" dirty="0"/>
          </a:p>
        </p:txBody>
      </p:sp>
      <p:sp>
        <p:nvSpPr>
          <p:cNvPr id="16" name="Text 14"/>
          <p:cNvSpPr/>
          <p:nvPr/>
        </p:nvSpPr>
        <p:spPr>
          <a:xfrm>
            <a:off x="7620000" y="4180731"/>
            <a:ext cx="355803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7F6F2"/>
                </a:solidFill>
                <a:latin typeface="IBM Plex Sans" pitchFamily="34" charset="0"/>
                <a:ea typeface="IBM Plex Sans" pitchFamily="34" charset="-122"/>
                <a:cs typeface="IBM Plex Sans" pitchFamily="34" charset="-120"/>
              </a:rPr>
              <a:t>I chose the lower, honest score.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A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IBM Plex Sans" pitchFamily="34" charset="0"/>
                <a:ea typeface="IBM Plex Sans" pitchFamily="34" charset="-122"/>
                <a:cs typeface="IBM Plex Sans" pitchFamily="34" charset="-120"/>
              </a:rPr>
              <a:t>4 · METHOD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A fair, leak-proof setup</a:t>
            </a:r>
            <a:endParaRPr lang="en-US" sz="3600" dirty="0"/>
          </a:p>
        </p:txBody>
      </p:sp>
      <p:sp>
        <p:nvSpPr>
          <p:cNvPr id="4" name="Shape 2"/>
          <p:cNvSpPr/>
          <p:nvPr/>
        </p:nvSpPr>
        <p:spPr>
          <a:xfrm>
            <a:off x="812800" y="2037011"/>
            <a:ext cx="2527300" cy="2200821"/>
          </a:xfrm>
          <a:prstGeom prst="roundRect">
            <a:avLst>
              <a:gd name="adj" fmla="val 4616"/>
            </a:avLst>
          </a:prstGeom>
          <a:solidFill>
            <a:srgbClr val="FFFFFD"/>
          </a:solidFill>
          <a:ln/>
        </p:spPr>
      </p:sp>
      <p:sp>
        <p:nvSpPr>
          <p:cNvPr id="5" name="Shape 3"/>
          <p:cNvSpPr/>
          <p:nvPr/>
        </p:nvSpPr>
        <p:spPr>
          <a:xfrm>
            <a:off x="812800" y="2037011"/>
            <a:ext cx="2527300" cy="2200821"/>
          </a:xfrm>
          <a:custGeom>
            <a:avLst/>
            <a:gdLst/>
            <a:ahLst/>
            <a:cxnLst/>
            <a:rect l="l" t="t" r="r" b="b"/>
            <a:pathLst>
              <a:path w="2527300" h="2200821">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B5541A"/>
          </a:solidFill>
          <a:ln/>
        </p:spPr>
      </p:sp>
      <p:sp>
        <p:nvSpPr>
          <p:cNvPr id="6" name="Text 4"/>
          <p:cNvSpPr/>
          <p:nvPr/>
        </p:nvSpPr>
        <p:spPr>
          <a:xfrm>
            <a:off x="1066800" y="2329111"/>
            <a:ext cx="2079879"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5541A"/>
                </a:solidFill>
                <a:latin typeface="Source Serif 4" pitchFamily="18" charset="0"/>
                <a:ea typeface="Source Serif 4" pitchFamily="18" charset="-122"/>
                <a:cs typeface="Source Serif 4" pitchFamily="18" charset="-120"/>
              </a:rPr>
              <a:t>1</a:t>
            </a:r>
            <a:endParaRPr lang="en-US" sz="3600" dirty="0"/>
          </a:p>
        </p:txBody>
      </p:sp>
      <p:sp>
        <p:nvSpPr>
          <p:cNvPr id="7" name="Text 5"/>
          <p:cNvSpPr/>
          <p:nvPr/>
        </p:nvSpPr>
        <p:spPr>
          <a:xfrm>
            <a:off x="1066800" y="2887911"/>
            <a:ext cx="207987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Split 80 / 20</a:t>
            </a:r>
            <a:endParaRPr lang="en-US" sz="1800" dirty="0"/>
          </a:p>
        </p:txBody>
      </p:sp>
      <p:sp>
        <p:nvSpPr>
          <p:cNvPr id="8" name="Text 6"/>
          <p:cNvSpPr/>
          <p:nvPr/>
        </p:nvSpPr>
        <p:spPr>
          <a:xfrm>
            <a:off x="1066800" y="3263801"/>
            <a:ext cx="2079879"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Stratified. The test set is locked away and used once, at the end.</a:t>
            </a:r>
            <a:endParaRPr lang="en-US" sz="1400" dirty="0"/>
          </a:p>
        </p:txBody>
      </p:sp>
      <p:sp>
        <p:nvSpPr>
          <p:cNvPr id="9" name="Shape 7"/>
          <p:cNvSpPr/>
          <p:nvPr/>
        </p:nvSpPr>
        <p:spPr>
          <a:xfrm>
            <a:off x="3492500" y="2037011"/>
            <a:ext cx="2527300" cy="2200821"/>
          </a:xfrm>
          <a:prstGeom prst="roundRect">
            <a:avLst>
              <a:gd name="adj" fmla="val 4616"/>
            </a:avLst>
          </a:prstGeom>
          <a:solidFill>
            <a:srgbClr val="FFFFFD"/>
          </a:solidFill>
          <a:ln/>
        </p:spPr>
      </p:sp>
      <p:sp>
        <p:nvSpPr>
          <p:cNvPr id="10" name="Shape 8"/>
          <p:cNvSpPr/>
          <p:nvPr/>
        </p:nvSpPr>
        <p:spPr>
          <a:xfrm>
            <a:off x="3492500" y="2037011"/>
            <a:ext cx="2527300" cy="2200821"/>
          </a:xfrm>
          <a:custGeom>
            <a:avLst/>
            <a:gdLst/>
            <a:ahLst/>
            <a:cxnLst/>
            <a:rect l="l" t="t" r="r" b="b"/>
            <a:pathLst>
              <a:path w="2527300" h="2200821">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B5541A"/>
          </a:solidFill>
          <a:ln/>
        </p:spPr>
      </p:sp>
      <p:sp>
        <p:nvSpPr>
          <p:cNvPr id="11" name="Text 9"/>
          <p:cNvSpPr/>
          <p:nvPr/>
        </p:nvSpPr>
        <p:spPr>
          <a:xfrm>
            <a:off x="3746500" y="2329111"/>
            <a:ext cx="2079879"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5541A"/>
                </a:solidFill>
                <a:latin typeface="Source Serif 4" pitchFamily="18" charset="0"/>
                <a:ea typeface="Source Serif 4" pitchFamily="18" charset="-122"/>
                <a:cs typeface="Source Serif 4" pitchFamily="18" charset="-120"/>
              </a:rPr>
              <a:t>2</a:t>
            </a:r>
            <a:endParaRPr lang="en-US" sz="3600" dirty="0"/>
          </a:p>
        </p:txBody>
      </p:sp>
      <p:sp>
        <p:nvSpPr>
          <p:cNvPr id="12" name="Text 10"/>
          <p:cNvSpPr/>
          <p:nvPr/>
        </p:nvSpPr>
        <p:spPr>
          <a:xfrm>
            <a:off x="3746500" y="2887911"/>
            <a:ext cx="207987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Pipeline</a:t>
            </a:r>
            <a:endParaRPr lang="en-US" sz="1800" dirty="0"/>
          </a:p>
        </p:txBody>
      </p:sp>
      <p:sp>
        <p:nvSpPr>
          <p:cNvPr id="13" name="Text 11"/>
          <p:cNvSpPr/>
          <p:nvPr/>
        </p:nvSpPr>
        <p:spPr>
          <a:xfrm>
            <a:off x="3746500" y="3263801"/>
            <a:ext cx="2079879"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Imputing, scaling and encoding learn from training data only.</a:t>
            </a:r>
            <a:endParaRPr lang="en-US" sz="1400" dirty="0"/>
          </a:p>
        </p:txBody>
      </p:sp>
      <p:sp>
        <p:nvSpPr>
          <p:cNvPr id="14" name="Shape 12"/>
          <p:cNvSpPr/>
          <p:nvPr/>
        </p:nvSpPr>
        <p:spPr>
          <a:xfrm>
            <a:off x="6172200" y="2037011"/>
            <a:ext cx="2527300" cy="2200821"/>
          </a:xfrm>
          <a:prstGeom prst="roundRect">
            <a:avLst>
              <a:gd name="adj" fmla="val 4616"/>
            </a:avLst>
          </a:prstGeom>
          <a:solidFill>
            <a:srgbClr val="FFFFFD"/>
          </a:solidFill>
          <a:ln/>
        </p:spPr>
      </p:sp>
      <p:sp>
        <p:nvSpPr>
          <p:cNvPr id="15" name="Shape 13"/>
          <p:cNvSpPr/>
          <p:nvPr/>
        </p:nvSpPr>
        <p:spPr>
          <a:xfrm>
            <a:off x="6172200" y="2037011"/>
            <a:ext cx="2527300" cy="2200821"/>
          </a:xfrm>
          <a:custGeom>
            <a:avLst/>
            <a:gdLst/>
            <a:ahLst/>
            <a:cxnLst/>
            <a:rect l="l" t="t" r="r" b="b"/>
            <a:pathLst>
              <a:path w="2527300" h="2200821">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B5541A"/>
          </a:solidFill>
          <a:ln/>
        </p:spPr>
      </p:sp>
      <p:sp>
        <p:nvSpPr>
          <p:cNvPr id="16" name="Text 14"/>
          <p:cNvSpPr/>
          <p:nvPr/>
        </p:nvSpPr>
        <p:spPr>
          <a:xfrm>
            <a:off x="6426200" y="2329111"/>
            <a:ext cx="2079879"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5541A"/>
                </a:solidFill>
                <a:latin typeface="Source Serif 4" pitchFamily="18" charset="0"/>
                <a:ea typeface="Source Serif 4" pitchFamily="18" charset="-122"/>
                <a:cs typeface="Source Serif 4" pitchFamily="18" charset="-120"/>
              </a:rPr>
              <a:t>3</a:t>
            </a:r>
            <a:endParaRPr lang="en-US" sz="3600" dirty="0"/>
          </a:p>
        </p:txBody>
      </p:sp>
      <p:sp>
        <p:nvSpPr>
          <p:cNvPr id="17" name="Text 15"/>
          <p:cNvSpPr/>
          <p:nvPr/>
        </p:nvSpPr>
        <p:spPr>
          <a:xfrm>
            <a:off x="6426200" y="2887911"/>
            <a:ext cx="207987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5-fold CV</a:t>
            </a:r>
            <a:endParaRPr lang="en-US" sz="1800" dirty="0"/>
          </a:p>
        </p:txBody>
      </p:sp>
      <p:sp>
        <p:nvSpPr>
          <p:cNvPr id="18" name="Text 16"/>
          <p:cNvSpPr/>
          <p:nvPr/>
        </p:nvSpPr>
        <p:spPr>
          <a:xfrm>
            <a:off x="6426200" y="3263801"/>
            <a:ext cx="2079879"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The same folds for every model, so the comparison is fair.</a:t>
            </a:r>
            <a:endParaRPr lang="en-US" sz="1400" dirty="0"/>
          </a:p>
        </p:txBody>
      </p:sp>
      <p:sp>
        <p:nvSpPr>
          <p:cNvPr id="19" name="Shape 17"/>
          <p:cNvSpPr/>
          <p:nvPr/>
        </p:nvSpPr>
        <p:spPr>
          <a:xfrm>
            <a:off x="8851900" y="2037011"/>
            <a:ext cx="2527300" cy="2200821"/>
          </a:xfrm>
          <a:prstGeom prst="roundRect">
            <a:avLst>
              <a:gd name="adj" fmla="val 4616"/>
            </a:avLst>
          </a:prstGeom>
          <a:solidFill>
            <a:srgbClr val="FFFFFD"/>
          </a:solidFill>
          <a:ln/>
        </p:spPr>
      </p:sp>
      <p:sp>
        <p:nvSpPr>
          <p:cNvPr id="20" name="Shape 18"/>
          <p:cNvSpPr/>
          <p:nvPr/>
        </p:nvSpPr>
        <p:spPr>
          <a:xfrm>
            <a:off x="8851900" y="2037011"/>
            <a:ext cx="2527300" cy="2200821"/>
          </a:xfrm>
          <a:custGeom>
            <a:avLst/>
            <a:gdLst/>
            <a:ahLst/>
            <a:cxnLst/>
            <a:rect l="l" t="t" r="r" b="b"/>
            <a:pathLst>
              <a:path w="2527300" h="2200821">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B5541A"/>
          </a:solidFill>
          <a:ln/>
        </p:spPr>
      </p:sp>
      <p:sp>
        <p:nvSpPr>
          <p:cNvPr id="21" name="Text 19"/>
          <p:cNvSpPr/>
          <p:nvPr/>
        </p:nvSpPr>
        <p:spPr>
          <a:xfrm>
            <a:off x="9105900" y="2329111"/>
            <a:ext cx="2079879"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5541A"/>
                </a:solidFill>
                <a:latin typeface="Source Serif 4" pitchFamily="18" charset="0"/>
                <a:ea typeface="Source Serif 4" pitchFamily="18" charset="-122"/>
                <a:cs typeface="Source Serif 4" pitchFamily="18" charset="-120"/>
              </a:rPr>
              <a:t>4</a:t>
            </a:r>
            <a:endParaRPr lang="en-US" sz="3600" dirty="0"/>
          </a:p>
        </p:txBody>
      </p:sp>
      <p:sp>
        <p:nvSpPr>
          <p:cNvPr id="22" name="Text 20"/>
          <p:cNvSpPr/>
          <p:nvPr/>
        </p:nvSpPr>
        <p:spPr>
          <a:xfrm>
            <a:off x="9105900" y="2887911"/>
            <a:ext cx="207987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Two baselines</a:t>
            </a:r>
            <a:endParaRPr lang="en-US" sz="1800" dirty="0"/>
          </a:p>
        </p:txBody>
      </p:sp>
      <p:sp>
        <p:nvSpPr>
          <p:cNvPr id="23" name="Text 21"/>
          <p:cNvSpPr/>
          <p:nvPr/>
        </p:nvSpPr>
        <p:spPr>
          <a:xfrm>
            <a:off x="9105900" y="3263801"/>
            <a:ext cx="2079879"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Always “stays”, and a business rule: monthly contract + few logins.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IBM Plex Sans" pitchFamily="34" charset="0"/>
                <a:ea typeface="IBM Plex Sans" pitchFamily="34" charset="-122"/>
                <a:cs typeface="IBM Plex Sans" pitchFamily="34" charset="-120"/>
              </a:rPr>
              <a:t>5 · MODEL COMPARISON</a:t>
            </a:r>
            <a:endParaRPr lang="en-US" sz="1200" dirty="0"/>
          </a:p>
        </p:txBody>
      </p:sp>
      <p:sp>
        <p:nvSpPr>
          <p:cNvPr id="3" name="Text 1"/>
          <p:cNvSpPr/>
          <p:nvPr>
            <p:ph type="title"/>
          </p:nvPr>
        </p:nvSpPr>
        <p:spPr>
          <a:xfrm>
            <a:off x="812800" y="1127720"/>
            <a:ext cx="11379200"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The simplest model wins; complex ones overfit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10553700" cy="2196703"/>
        </p:xfrm>
        <a:graphic>
          <a:graphicData uri="http://schemas.openxmlformats.org/drawingml/2006/table">
            <a:tbl>
              <a:tblPr/>
              <a:tblGrid>
                <a:gridCol w="3588258"/>
                <a:gridCol w="1688592"/>
                <a:gridCol w="1688592"/>
                <a:gridCol w="1794129"/>
                <a:gridCol w="1794129"/>
              </a:tblGrid>
              <a:tr h="439341">
                <a:tc>
                  <a:txBody>
                    <a:bodyPr/>
                    <a:lstStyle/>
                    <a:p>
                      <a:pPr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Model (5-fold CV)</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ROC-AUC</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PR-AUC</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Train ROC-AUC</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Overfit gap</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439341">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Logistic Regression (best)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0.753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0.429</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0.797</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0.04 (small)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439341">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Random Forest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0.747</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0.409</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0.992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0.25 (large)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39341">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Gradient Boosting</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0.720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0.372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0.952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0.23 (large)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39341">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Business rule (baseline)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0.618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0.255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4449614"/>
            <a:ext cx="5337048"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4A5568"/>
                </a:solidFill>
                <a:latin typeface="IBM Plex Sans" pitchFamily="34" charset="0"/>
                <a:ea typeface="IBM Plex Sans" pitchFamily="34" charset="-122"/>
                <a:cs typeface="IBM Plex Sans" pitchFamily="34" charset="-120"/>
              </a:rPr>
              <a:t>Tuning</a:t>
            </a:r>
            <a:r>
              <a:rPr lang="en-US" sz="1400" dirty="0">
                <a:solidFill>
                  <a:srgbClr val="4A5568"/>
                </a:solidFill>
                <a:latin typeface="IBM Plex Sans" pitchFamily="34" charset="0"/>
                <a:ea typeface="IBM Plex Sans" pitchFamily="34" charset="-122"/>
                <a:cs typeface="IBM Plex Sans" pitchFamily="34" charset="-120"/>
              </a:rPr>
              <a:t> (grid search) did not change the ranking: the data is small and the patterns are simple.</a:t>
            </a:r>
            <a:endParaRPr lang="en-US" sz="1400" dirty="0"/>
          </a:p>
        </p:txBody>
      </p:sp>
      <p:sp>
        <p:nvSpPr>
          <p:cNvPr id="6" name="Text 3"/>
          <p:cNvSpPr/>
          <p:nvPr/>
        </p:nvSpPr>
        <p:spPr>
          <a:xfrm>
            <a:off x="6197600" y="4449614"/>
            <a:ext cx="5337048"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4A5568"/>
                </a:solidFill>
                <a:latin typeface="IBM Plex Sans" pitchFamily="34" charset="0"/>
                <a:ea typeface="IBM Plex Sans" pitchFamily="34" charset="-122"/>
                <a:cs typeface="IBM Plex Sans" pitchFamily="34" charset="-120"/>
              </a:rPr>
              <a:t>Age removed:</a:t>
            </a:r>
            <a:r>
              <a:rPr lang="en-US" sz="1400" dirty="0">
                <a:solidFill>
                  <a:srgbClr val="4A5568"/>
                </a:solidFill>
                <a:latin typeface="IBM Plex Sans" pitchFamily="34" charset="0"/>
                <a:ea typeface="IBM Plex Sans" pitchFamily="34" charset="-122"/>
                <a:cs typeface="IBM Plex Sans" pitchFamily="34" charset="-120"/>
              </a:rPr>
              <a:t> ROC-AUC 0.753 → 0.752. Same performance, no age-based targeting.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IBM Plex Sans" pitchFamily="34" charset="0"/>
                <a:ea typeface="IBM Plex Sans" pitchFamily="34" charset="-122"/>
                <a:cs typeface="IBM Plex Sans" pitchFamily="34" charset="-120"/>
              </a:rPr>
              <a:t>6 · RESULTS AND ERRORS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Test ROC-AUC 0.76: 2.1× better than random</a:t>
            </a:r>
            <a:endParaRPr lang="en-US" sz="3600" dirty="0"/>
          </a:p>
        </p:txBody>
      </p:sp>
      <p:sp>
        <p:nvSpPr>
          <p:cNvPr id="4" name="Shape 2"/>
          <p:cNvSpPr/>
          <p:nvPr/>
        </p:nvSpPr>
        <p:spPr>
          <a:xfrm>
            <a:off x="815975" y="1938586"/>
            <a:ext cx="4311650" cy="3359150"/>
          </a:xfrm>
          <a:prstGeom prst="roundRect">
            <a:avLst>
              <a:gd name="adj" fmla="val 2930"/>
            </a:avLst>
          </a:prstGeom>
          <a:solidFill>
            <a:srgbClr val="FFFFFF"/>
          </a:solidFill>
          <a:ln w="6350">
            <a:solidFill>
              <a:srgbClr val="E1DED4"/>
            </a:solidFill>
            <a:prstDash val="solid"/>
          </a:ln>
        </p:spPr>
      </p:sp>
      <p:pic>
        <p:nvPicPr>
          <p:cNvPr id="5" name="Image 0" descr="Confusion matrix on the test set at threshold 0.57: 229 true negatives, 66 false positives, 29 false negatives, 36 true positives">    </p:cNvPr>
          <p:cNvPicPr>
            <a:picLocks noChangeAspect="1"/>
          </p:cNvPicPr>
          <p:nvPr/>
        </p:nvPicPr>
        <p:blipFill>
          <a:blip r:embed="rId1"/>
          <a:srcRect l="-50" r="-50" t="0" b="0"/>
          <a:stretch/>
        </p:blipFill>
        <p:spPr>
          <a:xfrm>
            <a:off x="971550" y="2094161"/>
            <a:ext cx="3746500" cy="3048000"/>
          </a:xfrm>
          <a:prstGeom prst="rect">
            <a:avLst/>
          </a:prstGeom>
        </p:spPr>
      </p:pic>
      <p:sp>
        <p:nvSpPr>
          <p:cNvPr id="6" name="Text 3"/>
          <p:cNvSpPr/>
          <p:nvPr/>
        </p:nvSpPr>
        <p:spPr>
          <a:xfrm>
            <a:off x="5486400" y="1935411"/>
            <a:ext cx="132080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5541A"/>
                </a:solidFill>
                <a:latin typeface="Source Serif 4" pitchFamily="18" charset="0"/>
                <a:ea typeface="Source Serif 4" pitchFamily="18" charset="-122"/>
                <a:cs typeface="Source Serif 4" pitchFamily="18" charset="-120"/>
              </a:rPr>
              <a:t>55%</a:t>
            </a:r>
            <a:endParaRPr lang="en-US" sz="3600" dirty="0"/>
          </a:p>
        </p:txBody>
      </p:sp>
      <p:sp>
        <p:nvSpPr>
          <p:cNvPr id="7" name="Text 4"/>
          <p:cNvSpPr/>
          <p:nvPr/>
        </p:nvSpPr>
        <p:spPr>
          <a:xfrm>
            <a:off x="6908800" y="2138611"/>
            <a:ext cx="460451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IBM Plex Sans" pitchFamily="34" charset="0"/>
                <a:ea typeface="IBM Plex Sans" pitchFamily="34" charset="-122"/>
                <a:cs typeface="IBM Plex Sans" pitchFamily="34" charset="-120"/>
              </a:rPr>
              <a:t>of churners found (36 of 65) at threshold 0.57</a:t>
            </a:r>
            <a:endParaRPr lang="en-US" sz="1400" dirty="0"/>
          </a:p>
        </p:txBody>
      </p:sp>
      <p:sp>
        <p:nvSpPr>
          <p:cNvPr id="8" name="Text 5"/>
          <p:cNvSpPr/>
          <p:nvPr/>
        </p:nvSpPr>
        <p:spPr>
          <a:xfrm>
            <a:off x="5486400" y="2570411"/>
            <a:ext cx="132080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5541A"/>
                </a:solidFill>
                <a:latin typeface="Source Serif 4" pitchFamily="18" charset="0"/>
                <a:ea typeface="Source Serif 4" pitchFamily="18" charset="-122"/>
                <a:cs typeface="Source Serif 4" pitchFamily="18" charset="-120"/>
              </a:rPr>
              <a:t>2.1×</a:t>
            </a:r>
            <a:endParaRPr lang="en-US" sz="3600" dirty="0"/>
          </a:p>
        </p:txBody>
      </p:sp>
      <p:sp>
        <p:nvSpPr>
          <p:cNvPr id="9" name="Text 6"/>
          <p:cNvSpPr/>
          <p:nvPr/>
        </p:nvSpPr>
        <p:spPr>
          <a:xfrm>
            <a:off x="6908800" y="2773611"/>
            <a:ext cx="460451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IBM Plex Sans" pitchFamily="34" charset="0"/>
                <a:ea typeface="IBM Plex Sans" pitchFamily="34" charset="-122"/>
                <a:cs typeface="IBM Plex Sans" pitchFamily="34" charset="-120"/>
              </a:rPr>
              <a:t>more churners in the top 20% than random</a:t>
            </a:r>
            <a:endParaRPr lang="en-US" sz="1400" dirty="0"/>
          </a:p>
        </p:txBody>
      </p:sp>
      <p:sp>
        <p:nvSpPr>
          <p:cNvPr id="10" name="Shape 7"/>
          <p:cNvSpPr/>
          <p:nvPr/>
        </p:nvSpPr>
        <p:spPr>
          <a:xfrm>
            <a:off x="5486400" y="3205411"/>
            <a:ext cx="5892800" cy="1181050"/>
          </a:xfrm>
          <a:prstGeom prst="roundRect">
            <a:avLst>
              <a:gd name="adj" fmla="val 8603"/>
            </a:avLst>
          </a:prstGeom>
          <a:solidFill>
            <a:srgbClr val="14213D"/>
          </a:solidFill>
          <a:ln/>
        </p:spPr>
      </p:sp>
      <p:sp>
        <p:nvSpPr>
          <p:cNvPr id="11" name="Text 8"/>
          <p:cNvSpPr/>
          <p:nvPr/>
        </p:nvSpPr>
        <p:spPr>
          <a:xfrm>
            <a:off x="5689600" y="3408611"/>
            <a:ext cx="565099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IBM Plex Sans" pitchFamily="34" charset="0"/>
                <a:ea typeface="IBM Plex Sans" pitchFamily="34" charset="-122"/>
                <a:cs typeface="IBM Plex Sans" pitchFamily="34" charset="-120"/>
              </a:rPr>
              <a:t>Missed churners look loyal</a:t>
            </a:r>
            <a:endParaRPr lang="en-US" sz="1600" dirty="0"/>
          </a:p>
        </p:txBody>
      </p:sp>
      <p:sp>
        <p:nvSpPr>
          <p:cNvPr id="12" name="Text 9"/>
          <p:cNvSpPr/>
          <p:nvPr/>
        </p:nvSpPr>
        <p:spPr>
          <a:xfrm>
            <a:off x="5689600" y="3703241"/>
            <a:ext cx="565099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6F2"/>
                </a:solidFill>
                <a:latin typeface="IBM Plex Sans" pitchFamily="34" charset="0"/>
                <a:ea typeface="IBM Plex Sans" pitchFamily="34" charset="-122"/>
                <a:cs typeface="IBM Plex Sans" pitchFamily="34" charset="-120"/>
              </a:rPr>
              <a:t>14 login days a month, vs 8 for churners found. The fix is new data, not a bigger model.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A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IBM Plex Sans" pitchFamily="34" charset="0"/>
                <a:ea typeface="IBM Plex Sans" pitchFamily="34" charset="-122"/>
                <a:cs typeface="IBM Plex Sans" pitchFamily="34" charset="-120"/>
              </a:rPr>
              <a:t>7 · DEEP LEARNING AND TRANSFER LEARNING</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Deep Learning: tested, no gain</a:t>
            </a:r>
            <a:endParaRPr lang="en-US" sz="3600" dirty="0"/>
          </a:p>
        </p:txBody>
      </p:sp>
      <p:sp>
        <p:nvSpPr>
          <p:cNvPr id="4" name="Shape 2"/>
          <p:cNvSpPr/>
          <p:nvPr/>
        </p:nvSpPr>
        <p:spPr>
          <a:xfrm>
            <a:off x="815975" y="1938586"/>
            <a:ext cx="5200650" cy="3111500"/>
          </a:xfrm>
          <a:prstGeom prst="roundRect">
            <a:avLst>
              <a:gd name="adj" fmla="val 3163"/>
            </a:avLst>
          </a:prstGeom>
          <a:solidFill>
            <a:srgbClr val="FFFFFF"/>
          </a:solidFill>
          <a:ln w="6350">
            <a:solidFill>
              <a:srgbClr val="E1DED4"/>
            </a:solidFill>
            <a:prstDash val="solid"/>
          </a:ln>
        </p:spPr>
      </p:sp>
      <p:pic>
        <p:nvPicPr>
          <p:cNvPr id="5" name="Image 0" descr="Training curves of the neural network, fold 1: training loss keeps falling while validation loss bottoms out at epoch 19 and then rises">    </p:cNvPr>
          <p:cNvPicPr>
            <a:picLocks noChangeAspect="1"/>
          </p:cNvPicPr>
          <p:nvPr/>
        </p:nvPicPr>
        <p:blipFill>
          <a:blip r:embed="rId1"/>
          <a:srcRect l="-16" r="-16" t="0" b="0"/>
          <a:stretch/>
        </p:blipFill>
        <p:spPr>
          <a:xfrm>
            <a:off x="971550" y="2094161"/>
            <a:ext cx="4902200" cy="2800350"/>
          </a:xfrm>
          <a:prstGeom prst="rect">
            <a:avLst/>
          </a:prstGeom>
        </p:spPr>
      </p:pic>
      <p:sp>
        <p:nvSpPr>
          <p:cNvPr id="6" name="Text 3"/>
          <p:cNvSpPr/>
          <p:nvPr/>
        </p:nvSpPr>
        <p:spPr>
          <a:xfrm>
            <a:off x="6375400" y="1935411"/>
            <a:ext cx="515391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PyTorch network</a:t>
            </a:r>
            <a:endParaRPr lang="en-US" sz="1600" dirty="0"/>
          </a:p>
        </p:txBody>
      </p:sp>
      <p:sp>
        <p:nvSpPr>
          <p:cNvPr id="7" name="Text 4"/>
          <p:cNvSpPr/>
          <p:nvPr/>
        </p:nvSpPr>
        <p:spPr>
          <a:xfrm>
            <a:off x="6375400" y="2230041"/>
            <a:ext cx="515391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31 → 32 → 16 → 1, ReLU, dropout, Adam, early stopping</a:t>
            </a:r>
            <a:endParaRPr lang="en-US" sz="1400" dirty="0"/>
          </a:p>
        </p:txBody>
      </p:sp>
      <p:sp>
        <p:nvSpPr>
          <p:cNvPr id="8" name="Text 5"/>
          <p:cNvSpPr/>
          <p:nvPr/>
        </p:nvSpPr>
        <p:spPr>
          <a:xfrm>
            <a:off x="6375400" y="2647851"/>
            <a:ext cx="515391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Same as Logistic Regression</a:t>
            </a:r>
            <a:endParaRPr lang="en-US" sz="1600" dirty="0"/>
          </a:p>
        </p:txBody>
      </p:sp>
      <p:sp>
        <p:nvSpPr>
          <p:cNvPr id="9" name="Text 6"/>
          <p:cNvSpPr/>
          <p:nvPr/>
        </p:nvSpPr>
        <p:spPr>
          <a:xfrm>
            <a:off x="6375400" y="2942481"/>
            <a:ext cx="515391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ROC-AUC 0.749 vs 0.752; won 2 of 5 folds. Overfits after ~15 epochs.</a:t>
            </a:r>
            <a:endParaRPr lang="en-US" sz="1400" dirty="0"/>
          </a:p>
        </p:txBody>
      </p:sp>
      <p:sp>
        <p:nvSpPr>
          <p:cNvPr id="10" name="Shape 7"/>
          <p:cNvSpPr/>
          <p:nvPr/>
        </p:nvSpPr>
        <p:spPr>
          <a:xfrm>
            <a:off x="6375400" y="3606651"/>
            <a:ext cx="5003800" cy="0"/>
          </a:xfrm>
          <a:prstGeom prst="line">
            <a:avLst/>
          </a:prstGeom>
          <a:noFill/>
          <a:ln w="12700">
            <a:solidFill>
              <a:srgbClr val="B5541A"/>
            </a:solidFill>
            <a:prstDash val="solid"/>
          </a:ln>
        </p:spPr>
      </p:sp>
      <p:sp>
        <p:nvSpPr>
          <p:cNvPr id="11" name="Text 8"/>
          <p:cNvSpPr/>
          <p:nvPr/>
        </p:nvSpPr>
        <p:spPr>
          <a:xfrm>
            <a:off x="6375400" y="3765401"/>
            <a:ext cx="515391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Transfer Learning: not relevant</a:t>
            </a:r>
            <a:endParaRPr lang="en-US" sz="1600" dirty="0"/>
          </a:p>
        </p:txBody>
      </p:sp>
      <p:sp>
        <p:nvSpPr>
          <p:cNvPr id="12" name="Text 9"/>
          <p:cNvSpPr/>
          <p:nvPr/>
        </p:nvSpPr>
        <p:spPr>
          <a:xfrm>
            <a:off x="6375400" y="4060031"/>
            <a:ext cx="515391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Our columns are company-specific. It would fit support-ticket text with a pretrained language model.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IBM Plex Sans" pitchFamily="34" charset="0"/>
                <a:ea typeface="IBM Plex Sans" pitchFamily="34" charset="-122"/>
                <a:cs typeface="IBM Plex Sans" pitchFamily="34" charset="-120"/>
              </a:rPr>
              <a:t>8 · RECOMMENDATION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Logistic Regression as a monthly risk ranking</a:t>
            </a:r>
            <a:endParaRPr lang="en-US" sz="3600" dirty="0"/>
          </a:p>
        </p:txBody>
      </p:sp>
      <p:sp>
        <p:nvSpPr>
          <p:cNvPr id="4" name="Shape 2"/>
          <p:cNvSpPr/>
          <p:nvPr/>
        </p:nvSpPr>
        <p:spPr>
          <a:xfrm>
            <a:off x="815975" y="1887786"/>
            <a:ext cx="3380284" cy="2090291"/>
          </a:xfrm>
          <a:prstGeom prst="roundRect">
            <a:avLst>
              <a:gd name="adj" fmla="val 4709"/>
            </a:avLst>
          </a:prstGeom>
          <a:solidFill>
            <a:srgbClr val="FFFFFD"/>
          </a:solidFill>
          <a:ln w="6350">
            <a:solidFill>
              <a:srgbClr val="E1DED4"/>
            </a:solidFill>
            <a:prstDash val="solid"/>
          </a:ln>
        </p:spPr>
      </p:sp>
      <p:sp>
        <p:nvSpPr>
          <p:cNvPr id="5" name="Text 3"/>
          <p:cNvSpPr/>
          <p:nvPr/>
        </p:nvSpPr>
        <p:spPr>
          <a:xfrm>
            <a:off x="1073150" y="2144961"/>
            <a:ext cx="295191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Why</a:t>
            </a:r>
            <a:endParaRPr lang="en-US" sz="1800" dirty="0"/>
          </a:p>
        </p:txBody>
      </p:sp>
      <p:sp>
        <p:nvSpPr>
          <p:cNvPr id="6" name="Text 4"/>
          <p:cNvSpPr/>
          <p:nvPr/>
        </p:nvSpPr>
        <p:spPr>
          <a:xfrm>
            <a:off x="1151382" y="2520851"/>
            <a:ext cx="2866060" cy="1225451"/>
          </a:xfrm>
          <a:prstGeom prst="rect">
            <a:avLst/>
          </a:prstGeom>
          <a:noFill/>
          <a:ln/>
        </p:spPr>
        <p:txBody>
          <a:bodyPr wrap="square" lIns="0" tIns="0" rIns="0" bIns="0" rtlCol="0" anchor="t">
            <a:normAutofit/>
          </a:bodyPr>
          <a:lstStyle/>
          <a:p>
            <a:pPr algn="l" marL="175768" indent="-175768">
              <a:lnSpc>
                <a:spcPts val="1890"/>
              </a:lnSpc>
              <a:buSzPct val="100000"/>
              <a:buChar char="•"/>
            </a:pPr>
            <a:r>
              <a:rPr lang="en-US" sz="1400" dirty="0">
                <a:solidFill>
                  <a:srgbClr val="4A5568"/>
                </a:solidFill>
                <a:latin typeface="IBM Plex Sans" pitchFamily="34" charset="0"/>
                <a:ea typeface="IBM Plex Sans" pitchFamily="34" charset="-122"/>
                <a:cs typeface="IBM Plex Sans" pitchFamily="34" charset="-120"/>
              </a:rPr>
              <a:t>As good as or better than complex models</a:t>
            </a:r>
            <a:endParaRPr lang="en-US" sz="1400" dirty="0"/>
          </a:p>
          <a:p>
            <a:pPr algn="l" marL="175768" indent="-175768">
              <a:lnSpc>
                <a:spcPts val="1890"/>
              </a:lnSpc>
              <a:buSzPct val="100000"/>
              <a:buChar char="•"/>
            </a:pPr>
            <a:r>
              <a:rPr lang="en-US" sz="1400" dirty="0">
                <a:solidFill>
                  <a:srgbClr val="4A5568"/>
                </a:solidFill>
                <a:latin typeface="IBM Plex Sans" pitchFamily="34" charset="0"/>
                <a:ea typeface="IBM Plex Sans" pitchFamily="34" charset="-122"/>
                <a:cs typeface="IBM Plex Sans" pitchFamily="34" charset="-120"/>
              </a:rPr>
              <a:t>Least overfitting, stable</a:t>
            </a:r>
            <a:endParaRPr lang="en-US" sz="1400" dirty="0"/>
          </a:p>
          <a:p>
            <a:pPr algn="l" marL="175768" indent="-175768">
              <a:lnSpc>
                <a:spcPts val="1890"/>
              </a:lnSpc>
              <a:buSzPct val="100000"/>
              <a:buChar char="•"/>
            </a:pPr>
            <a:r>
              <a:rPr lang="en-US" sz="1400" dirty="0">
                <a:solidFill>
                  <a:srgbClr val="4A5568"/>
                </a:solidFill>
                <a:latin typeface="IBM Plex Sans" pitchFamily="34" charset="0"/>
                <a:ea typeface="IBM Plex Sans" pitchFamily="34" charset="-122"/>
                <a:cs typeface="IBM Plex Sans" pitchFamily="34" charset="-120"/>
              </a:rPr>
              <a:t>Shows why a customer is flagged</a:t>
            </a:r>
            <a:endParaRPr lang="en-US" sz="1400" dirty="0"/>
          </a:p>
        </p:txBody>
      </p:sp>
      <p:sp>
        <p:nvSpPr>
          <p:cNvPr id="7" name="Shape 5"/>
          <p:cNvSpPr/>
          <p:nvPr/>
        </p:nvSpPr>
        <p:spPr>
          <a:xfrm>
            <a:off x="4405809" y="1887786"/>
            <a:ext cx="3380333" cy="2090291"/>
          </a:xfrm>
          <a:prstGeom prst="roundRect">
            <a:avLst>
              <a:gd name="adj" fmla="val 4709"/>
            </a:avLst>
          </a:prstGeom>
          <a:solidFill>
            <a:srgbClr val="FFFFFD"/>
          </a:solidFill>
          <a:ln w="6350">
            <a:solidFill>
              <a:srgbClr val="E1DED4"/>
            </a:solidFill>
            <a:prstDash val="solid"/>
          </a:ln>
        </p:spPr>
      </p:sp>
      <p:sp>
        <p:nvSpPr>
          <p:cNvPr id="8" name="Text 6"/>
          <p:cNvSpPr/>
          <p:nvPr/>
        </p:nvSpPr>
        <p:spPr>
          <a:xfrm>
            <a:off x="4662984" y="2144961"/>
            <a:ext cx="29519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Limits</a:t>
            </a:r>
            <a:endParaRPr lang="en-US" sz="1800" dirty="0"/>
          </a:p>
        </p:txBody>
      </p:sp>
      <p:sp>
        <p:nvSpPr>
          <p:cNvPr id="9" name="Text 7"/>
          <p:cNvSpPr/>
          <p:nvPr/>
        </p:nvSpPr>
        <p:spPr>
          <a:xfrm>
            <a:off x="4741216" y="2520851"/>
            <a:ext cx="2866111" cy="745430"/>
          </a:xfrm>
          <a:prstGeom prst="rect">
            <a:avLst/>
          </a:prstGeom>
          <a:noFill/>
          <a:ln/>
        </p:spPr>
        <p:txBody>
          <a:bodyPr wrap="square" lIns="0" tIns="0" rIns="0" bIns="0" rtlCol="0" anchor="t">
            <a:normAutofit/>
          </a:bodyPr>
          <a:lstStyle/>
          <a:p>
            <a:pPr algn="l" marL="175768" indent="-175768">
              <a:lnSpc>
                <a:spcPts val="1890"/>
              </a:lnSpc>
              <a:buSzPct val="100000"/>
              <a:buChar char="•"/>
            </a:pPr>
            <a:r>
              <a:rPr lang="en-US" sz="1400" dirty="0">
                <a:solidFill>
                  <a:srgbClr val="4A5568"/>
                </a:solidFill>
                <a:latin typeface="IBM Plex Sans" pitchFamily="34" charset="0"/>
                <a:ea typeface="IBM Plex Sans" pitchFamily="34" charset="-122"/>
                <a:cs typeface="IBM Plex Sans" pitchFamily="34" charset="-120"/>
              </a:rPr>
              <a:t>One snapshot in time</a:t>
            </a:r>
            <a:endParaRPr lang="en-US" sz="1400" dirty="0"/>
          </a:p>
          <a:p>
            <a:pPr algn="l" marL="175768" indent="-175768">
              <a:lnSpc>
                <a:spcPts val="1890"/>
              </a:lnSpc>
              <a:buSzPct val="100000"/>
              <a:buChar char="•"/>
            </a:pPr>
            <a:r>
              <a:rPr lang="en-US" sz="1400" dirty="0">
                <a:solidFill>
                  <a:srgbClr val="4A5568"/>
                </a:solidFill>
                <a:latin typeface="IBM Plex Sans" pitchFamily="34" charset="0"/>
                <a:ea typeface="IBM Plex Sans" pitchFamily="34" charset="-122"/>
                <a:cs typeface="IBM Plex Sans" pitchFamily="34" charset="-120"/>
              </a:rPr>
              <a:t>Small data: ~320 churners</a:t>
            </a:r>
            <a:endParaRPr lang="en-US" sz="1400" dirty="0"/>
          </a:p>
          <a:p>
            <a:pPr algn="l" marL="175768" indent="-175768">
              <a:lnSpc>
                <a:spcPts val="1890"/>
              </a:lnSpc>
              <a:buSzPct val="100000"/>
              <a:buChar char="•"/>
            </a:pPr>
            <a:r>
              <a:rPr lang="en-US" sz="1400" dirty="0">
                <a:solidFill>
                  <a:srgbClr val="4A5568"/>
                </a:solidFill>
                <a:latin typeface="IBM Plex Sans" pitchFamily="34" charset="0"/>
                <a:ea typeface="IBM Plex Sans" pitchFamily="34" charset="-122"/>
                <a:cs typeface="IBM Plex Sans" pitchFamily="34" charset="-120"/>
              </a:rPr>
              <a:t>Weaker on long contracts</a:t>
            </a:r>
            <a:endParaRPr lang="en-US" sz="1400" dirty="0"/>
          </a:p>
        </p:txBody>
      </p:sp>
      <p:sp>
        <p:nvSpPr>
          <p:cNvPr id="10" name="Shape 8"/>
          <p:cNvSpPr/>
          <p:nvPr/>
        </p:nvSpPr>
        <p:spPr>
          <a:xfrm>
            <a:off x="7995692" y="1887786"/>
            <a:ext cx="3380333" cy="2090291"/>
          </a:xfrm>
          <a:prstGeom prst="roundRect">
            <a:avLst>
              <a:gd name="adj" fmla="val 4709"/>
            </a:avLst>
          </a:prstGeom>
          <a:solidFill>
            <a:srgbClr val="FFFFFD"/>
          </a:solidFill>
          <a:ln w="6350">
            <a:solidFill>
              <a:srgbClr val="E1DED4"/>
            </a:solidFill>
            <a:prstDash val="solid"/>
          </a:ln>
        </p:spPr>
      </p:sp>
      <p:sp>
        <p:nvSpPr>
          <p:cNvPr id="11" name="Text 9"/>
          <p:cNvSpPr/>
          <p:nvPr/>
        </p:nvSpPr>
        <p:spPr>
          <a:xfrm>
            <a:off x="8252867" y="2144961"/>
            <a:ext cx="29519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Next</a:t>
            </a:r>
            <a:endParaRPr lang="en-US" sz="1800" dirty="0"/>
          </a:p>
        </p:txBody>
      </p:sp>
      <p:sp>
        <p:nvSpPr>
          <p:cNvPr id="12" name="Text 10"/>
          <p:cNvSpPr/>
          <p:nvPr/>
        </p:nvSpPr>
        <p:spPr>
          <a:xfrm>
            <a:off x="8331099" y="2520851"/>
            <a:ext cx="2866111" cy="745430"/>
          </a:xfrm>
          <a:prstGeom prst="rect">
            <a:avLst/>
          </a:prstGeom>
          <a:noFill/>
          <a:ln/>
        </p:spPr>
        <p:txBody>
          <a:bodyPr wrap="square" lIns="0" tIns="0" rIns="0" bIns="0" rtlCol="0" anchor="t">
            <a:normAutofit/>
          </a:bodyPr>
          <a:lstStyle/>
          <a:p>
            <a:pPr algn="l" marL="175768" indent="-175768">
              <a:lnSpc>
                <a:spcPts val="1890"/>
              </a:lnSpc>
              <a:buSzPct val="100000"/>
              <a:buChar char="•"/>
            </a:pPr>
            <a:r>
              <a:rPr lang="en-US" sz="1400" dirty="0">
                <a:solidFill>
                  <a:srgbClr val="4A5568"/>
                </a:solidFill>
                <a:latin typeface="IBM Plex Sans" pitchFamily="34" charset="0"/>
                <a:ea typeface="IBM Plex Sans" pitchFamily="34" charset="-122"/>
                <a:cs typeface="IBM Plex Sans" pitchFamily="34" charset="-120"/>
              </a:rPr>
              <a:t>Test on a later snapshot</a:t>
            </a:r>
            <a:endParaRPr lang="en-US" sz="1400" dirty="0"/>
          </a:p>
          <a:p>
            <a:pPr algn="l" marL="175768" indent="-175768">
              <a:lnSpc>
                <a:spcPts val="1890"/>
              </a:lnSpc>
              <a:buSzPct val="100000"/>
              <a:buChar char="•"/>
            </a:pPr>
            <a:r>
              <a:rPr lang="en-US" sz="1400" dirty="0">
                <a:solidFill>
                  <a:srgbClr val="4A5568"/>
                </a:solidFill>
                <a:latin typeface="IBM Plex Sans" pitchFamily="34" charset="0"/>
                <a:ea typeface="IBM Plex Sans" pitchFamily="34" charset="-122"/>
                <a:cs typeface="IBM Plex Sans" pitchFamily="34" charset="-120"/>
              </a:rPr>
              <a:t>Add months until renewal</a:t>
            </a:r>
            <a:endParaRPr lang="en-US" sz="1400" dirty="0"/>
          </a:p>
          <a:p>
            <a:pPr algn="l" marL="175768" indent="-175768">
              <a:lnSpc>
                <a:spcPts val="1890"/>
              </a:lnSpc>
              <a:buSzPct val="100000"/>
              <a:buChar char="•"/>
            </a:pPr>
            <a:r>
              <a:rPr lang="en-US" sz="1400" dirty="0">
                <a:solidFill>
                  <a:srgbClr val="4A5568"/>
                </a:solidFill>
                <a:latin typeface="IBM Plex Sans" pitchFamily="34" charset="0"/>
                <a:ea typeface="IBM Plex Sans" pitchFamily="34" charset="-122"/>
                <a:cs typeface="IBM Plex Sans" pitchFamily="34" charset="-120"/>
              </a:rPr>
              <a:t>A/B test retention offers</a:t>
            </a:r>
            <a:endParaRPr lang="en-US" sz="1400" dirty="0"/>
          </a:p>
        </p:txBody>
      </p:sp>
      <p:sp>
        <p:nvSpPr>
          <p:cNvPr id="13" name="Shape 11"/>
          <p:cNvSpPr/>
          <p:nvPr/>
        </p:nvSpPr>
        <p:spPr>
          <a:xfrm>
            <a:off x="812800" y="4235252"/>
            <a:ext cx="10566400" cy="1150541"/>
          </a:xfrm>
          <a:prstGeom prst="roundRect">
            <a:avLst>
              <a:gd name="adj" fmla="val 8831"/>
            </a:avLst>
          </a:prstGeom>
          <a:solidFill>
            <a:srgbClr val="14213D"/>
          </a:solidFill>
          <a:ln/>
        </p:spPr>
      </p:sp>
      <p:sp>
        <p:nvSpPr>
          <p:cNvPr id="14" name="Text 12"/>
          <p:cNvSpPr/>
          <p:nvPr/>
        </p:nvSpPr>
        <p:spPr>
          <a:xfrm>
            <a:off x="1066800" y="4438452"/>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IBM Plex Sans" pitchFamily="34" charset="0"/>
                <a:ea typeface="IBM Plex Sans" pitchFamily="34" charset="-122"/>
                <a:cs typeface="IBM Plex Sans" pitchFamily="34" charset="-120"/>
              </a:rPr>
              <a:t>IN PRODUCTION</a:t>
            </a:r>
            <a:endParaRPr lang="en-US" sz="1200" dirty="0"/>
          </a:p>
        </p:txBody>
      </p:sp>
      <p:sp>
        <p:nvSpPr>
          <p:cNvPr id="15" name="Text 13"/>
          <p:cNvSpPr/>
          <p:nvPr/>
        </p:nvSpPr>
        <p:spPr>
          <a:xfrm>
            <a:off x="1066800" y="4702572"/>
            <a:ext cx="1036015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6F2"/>
                </a:solidFill>
                <a:latin typeface="IBM Plex Sans" pitchFamily="34" charset="0"/>
                <a:ea typeface="IBM Plex Sans" pitchFamily="34" charset="-122"/>
                <a:cs typeface="IBM Plex Sans" pitchFamily="34" charset="-120"/>
              </a:rPr>
              <a:t>Pipeline saved with input schema and versions · validate new data · monitor drift and recall (true labels arrive 30 days late) · retrain on drift or quarterly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272033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6F2"/>
                </a:solidFill>
                <a:latin typeface="Source Serif 4" pitchFamily="18" charset="0"/>
                <a:ea typeface="Source Serif 4" pitchFamily="18" charset="-122"/>
                <a:cs typeface="Source Serif 4" pitchFamily="18" charset="-120"/>
              </a:rPr>
              <a:t>Thank you. Questions?</a:t>
            </a:r>
            <a:endParaRPr lang="en-US" sz="6000" dirty="0"/>
          </a:p>
        </p:txBody>
      </p:sp>
      <p:sp>
        <p:nvSpPr>
          <p:cNvPr id="3" name="Text 1"/>
          <p:cNvSpPr/>
          <p:nvPr/>
        </p:nvSpPr>
        <p:spPr>
          <a:xfrm>
            <a:off x="812800" y="3774430"/>
            <a:ext cx="9810750"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E3"/>
                </a:solidFill>
                <a:latin typeface="IBM Plex Sans" pitchFamily="34" charset="0"/>
                <a:ea typeface="IBM Plex Sans" pitchFamily="34" charset="-122"/>
                <a:cs typeface="IBM Plex Sans" pitchFamily="34" charset="-120"/>
              </a:rPr>
              <a:t>An honest 0.75 that holds up in practice beats a 0.86 that doesn’t.</a:t>
            </a:r>
            <a:endParaRPr lang="en-US" sz="2200" dirty="0"/>
          </a:p>
        </p:txBody>
      </p:sp>
    </p:spTree>
  </p:cSld>
  <p:clrMapOvr>
    <a:masterClrMapping/>
  </p:clrMapOvr>
</p:sld>
</file>

<file path=ppt/theme/theme1.xml><?xml version="1.0" encoding="utf-8"?>
<a:theme xmlns:a="http://schemas.openxmlformats.org/drawingml/2006/main" name="Churn Prediction Presentation">
  <a:themeElements>
    <a:clrScheme name="Churn Prediction Presentation">
      <a:dk1>
        <a:srgbClr val="14213D"/>
      </a:dk1>
      <a:lt1>
        <a:srgbClr val="F7F6F2"/>
      </a:lt1>
      <a:dk2>
        <a:srgbClr val="4D566A"/>
      </a:dk2>
      <a:lt2>
        <a:srgbClr val="E0E1E0"/>
      </a:lt2>
      <a:accent1>
        <a:srgbClr val="B5541A"/>
      </a:accent1>
      <a:accent2>
        <a:srgbClr val="F2A65A"/>
      </a:accent2>
      <a:accent3>
        <a:srgbClr val="8C9AB3"/>
      </a:accent3>
      <a:accent4>
        <a:srgbClr val="4A5568"/>
      </a:accent4>
      <a:accent5>
        <a:srgbClr val="C9D3E3"/>
      </a:accent5>
      <a:accent6>
        <a:srgbClr val="9AA0A6"/>
      </a:accent6>
      <a:hlink>
        <a:srgbClr val="0563C1"/>
      </a:hlink>
      <a:folHlink>
        <a:srgbClr val="954F72"/>
      </a:folHlink>
    </a:clrScheme>
    <a:fontScheme name="Churn Prediction Present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Churn Prediction Presentation</dc:title>
  <dc:subject/>
  <dc:creator/>
  <cp:lastModifiedBy/>
  <cp:revision>1</cp:revision>
  <dcterms:created xsi:type="dcterms:W3CDTF">2026-10-21T13:30:40Z</dcterms:created>
  <dcterms:modified xsi:type="dcterms:W3CDTF">2026-10-21T13:30:40Z</dcterms:modified>
</cp:coreProperties>
</file>